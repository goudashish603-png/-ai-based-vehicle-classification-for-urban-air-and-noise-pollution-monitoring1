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AI-Based Vehicle Classification for Urban Air and Noise Pollution Monitoring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Real-Time Multi-Object Tracking, Fine-Grained Powertrain Inference, and Environmental Impact Estimation from Traffic Surveillance Streams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840480"/>
            <a:ext cx="9875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9509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📌 KEY HIGHLIGHTS &amp; ARCHITECTURE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Deep Learning Vision Stack: Ultralytics YOLOv8 Detection + ByteTrack Persistent Multi-Object Tracking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Fine-Grained Classification: PyTorch ResNet50/EfficientNet Make/Model Classifier + Grad-CAM Explainability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Environmental Impact Modeling: EEA COPERT V Air Mass Emission Rates (g/hr) &amp; CoRTN Relative Acoustic Noise Proxy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Production Deployment: 44/44 Passed PyTest Verification Suite + Real-Time Interactive Streamlit Web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Research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2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🌆 Urban Environmental Context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Rapid Urban Expansion: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Expanding vehicle fleets are major drivers of urban air quality degradation (PM2.5, PM10, NO2, CO2) and acoustic noise pollution.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Physical Sensing Limitations: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Conventional ambient monitoring relies on fixed physical gas stations and decibel meters. These measure total background ambient levels but cannot attribute pollution to specific vehicular source categories.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Opportunity in Surveillance Networks: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Municipalities already maintain extensive networks of traffic CCTV surveillance cameras. Using AI/CV converts passive video streams into real-time environmental telemetry without hardware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💡 Proposed AI Solution Framework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End-to-End Vision Pipeline: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Processes RGB video streams to perform vehicle detection, multi-object tracking, make/model recognition, and powertrain fuel inferencing.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Model-Based Environmental Calculators: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Implements EEA COPERT V standards for air emissions and CoRTN acoustic equations for traffic noise proxies, outputting normalized 0–100 Indices.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Live Station Integration: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Connects to OpenAQ and CPCB station APIs to perform statistical correlation (Pearson r, Spearman ρ) between camera traffic flow and measured ambient air.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Actionable Dashboard: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Delivers instant visualizations, video HUD overlays, and automated report exports for urban policy makers.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Key Monitoring Bottlenecks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3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9633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1. Lack of Source Attribution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Physical stations measure total ambient pollution concentrations but cannot isolate source vehicle categories or powertrain types.</a:t>
            </a:r>
            <a:br/>
            <a:br/>
            <a:r>
              <a:t>• Cannot determine whether PM2.5 spikes are caused by heavy diesel trucks vs light petrol cars.</a:t>
            </a:r>
            <a:br/>
            <a:r>
              <a:t>• Prevents targeted municipal policy interventions.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9633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2. Prohibitive Sensing Costs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Installing physical gas sensor arrays and calibrated sound meters across all urban intersections is economically unviable.</a:t>
            </a:r>
            <a:br/>
            <a:br/>
            <a:r>
              <a:t>• High initial capital expenditure &amp; continuous calibration costs.</a:t>
            </a:r>
            <a:br/>
            <a:r>
              <a:t>• Physical sensors suffer from sensor drift and maintenance overhead.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59633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3. Coarse Temporal Granularity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Manual traffic surveys fail to capture continuous, real-time diurnal traffic fluctuations and fleet composition shifts.</a:t>
            </a:r>
            <a:br/>
            <a:br/>
            <a:r>
              <a:t>• Static surveys miss sudden congestion-driven pollution spikes.</a:t>
            </a:r>
            <a:br/>
            <a:r>
              <a:t>• Data is gathered infrequently and lacks fine spatial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Core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4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🎯 Real-Time Multi-Class Detection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Localize vehicles across categories (car, truck, bus, motorcycle, van) using YOLOv8.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🔄 Persistent Object Tracking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Maintain track IDs &amp; count unique vehicles using ByteTrack &amp; 2D virtual line counters.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7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🏎️ Fine-Grained Make/Model Classifier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Identify exact vehicle make/model using PyTorch ResNet50/EfficientNet backbones.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⛽ Hierarchical Powertrain Mapper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Infer powertrain fuel types (PETROL, DIESEL, EV, CNG_LPG, HYBRID, UNKNOWN).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128016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39" y="1371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💨 EEA COPERT V Emission Modeling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Calculate estimated mass emission rates (g/hr) for PM2.5, PM10, NO2, CO, SO2, CO2.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251460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39" y="2606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🔊 CoRTN Acoustic Noise Proxy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Formulate relative noise sound level proxies and 0–100 Noise Index using vehicle weighting.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3749039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384047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📡 Ambient API Correlation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Integrate OpenAQ and CPCB APIs to compute Pearson (r) &amp; Spearman (ρ) correlation.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498348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39" y="5074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💻 Interactive Dashboard &amp; QA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Build a Streamlit web app with video HUD and achieve 100% test pass across PyTest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Processing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5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Video / Image Feed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RGB Traffic Camera Feed</a:t>
            </a:r>
            <a:br/>
            <a:r>
              <a:t>(MP4, RTSP, JPG)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Object Detection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YOLOv8 Detection</a:t>
            </a:r>
            <a:br/>
            <a:r>
              <a:t>(car, truck, bus, moto, van)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3716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19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3. Tracking &amp; Counting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ByteTrack Multi-Object Tracking</a:t>
            </a:r>
            <a:br/>
            <a:r>
              <a:t>+ Virtual Line Counter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13716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39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4. Crop &amp; Classifier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ResNet50 / EfficientNet</a:t>
            </a:r>
            <a:br/>
            <a:r>
              <a:t>+ Grad-CAM Heatmaps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5. Fuel Type Mapper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Hierarchical Database Lookup</a:t>
            </a:r>
            <a:br/>
            <a:r>
              <a:t>(Petrol, Diesel, EV, CNG)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40690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6. Environmental Models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EEA COPERT V Emissions (g/hr)</a:t>
            </a:r>
            <a:br/>
            <a:r>
              <a:t>+ CoRTN Acoustic Noise Proxy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40690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7. Dashboard &amp; Reports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Streamlit Multi-Page App</a:t>
            </a:r>
            <a:br/>
            <a:r>
              <a:t>+ OpenAQ/CPCB Station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93192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⚡ Key Architecture Benefits: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Decoupled Modular Pipeline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Deduplication via Virtual Lines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CPU Real-Time Optimizations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Extensible Emission Standards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Vehicle Detection &amp; Multi-Object Tracking Subsystem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6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🎯 Object Detection Module (YOLOv8)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Ultralytics YOLOv8 Architecture: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High-efficiency single-stage bounding box regression and multi-class classification.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Supported Vehicle Classes: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car, truck, bus, motorcycle, van.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Fallbacks &amp; Robustness: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Includes PyTorch FasterRCNN fallback engine for hardware without GPU acceleration.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Default Hyperparameters: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Confidence Threshold = 0.40 | IoU Overlap Threshold = 0.45.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🔄 ByteTrack &amp; Virtual Line Counting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ByteTrack Multi-Object Tracker: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Associates detection boxes across consecutive frames, maintaining persistent Track IDs even under partial occlusion.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Virtual Counting Line (2D Line Crossing):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Configurable 2D line segment placed across road lanes. Triggers counting logic only when track bounding box centroid crosses the line.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Deduplication Guarantee: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Ensures each physical vehicle is counted exactly ONCE per traversal, preventing duplicate emission estimates.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Kinematic Proxies: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Calculates vehicle dwell time and pixel movement speed proxies to refine activity emission factors.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Fine-Grained Classification &amp; Grad-CAM Explainability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7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🏎️ Transfer Learning Neural Backbone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Network Architecture: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PyTorch ResNet50 &amp; EfficientNet-B0 fine-tuned on fine-grained vehicle datasets (Stanford Cars, CompCars).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Crop Extraction Pipeline: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Extracts localized bounding box crops, resizes to 224x224, and normalizes using ImageNet RGB statistics.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Confidence &amp; Softmax Top-K: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Outputs Top-1 and Top-5 predicted make/model labels alongside softmax confidence scores.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Ambiguity Handling: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If top prediction confidence &lt; threshold (0.50), flags vehicle for fallback analysis to avoid misclassification.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🔍 Grad-CAM Visual Explainability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Gradient-Weighted Class Activation Mapping: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Computes gradients of the target class score with respect to feature maps of the final convolutional layer (layer4 in ResNet50).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Spatial Feature Validation: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Highlights key visual cues (front grille geometry, headlight design, brand logo) driving the network's prediction.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Model Transparency: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Ensures predictions are based on relevant vehicle features rather than background noise (e.g. road markings, trees).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Interactive UI Heatmaps: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Streamlit dashboard provides interactive Grad-CAM overlay viewers for single and batch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Powertrain Fuel-Type Inference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8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94415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⚙️ Hierarchical Matching Pipeline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Translates predicted vehicle make &amp; model strings into standard environmental powertrain categories: PETROL, DIESEL, EV, CNG_LPG, HYBRID, and UNKNOWN. Uses hierarchical multi-stage matching against reference database (data/external/fuel_mapping.csv).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51760"/>
          <a:ext cx="1109441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967935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Fuel Label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 / Powertrain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Representative Vehicle Examples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PETROL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Gasoline Internal Combustion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Toyota Corolla, Honda Civic, Hyundai i20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DIESEL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Diesel Internal Combustion Engine (Higher NOx/PM)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Ford F-150, Heavy Commercial Trucks, Mahindra Thar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Zero Tailpipe Emission Battery Electric Vehicle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Tesla Model 3, Nissan Leaf, Tata Nexon EV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CNG_LPG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Compressed Natural Gas / LPG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Municipal Transit Buses, Auto Rickshaws, Maruti WagonR CNG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Gasoline/Diesel + Electric Auxiliary Drive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Toyota Prius, Honda City e:HEV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Visually Ambiguous or Unlisted Model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Undistinguishable trim variants (Petrol vs Diesel Focus)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Air Emission Estimation: EEA COPERT V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9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94415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🧮 Mass Emission Rate Formulation (g/hr)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Emission Rate (g/hr) = ∑ [ Count_i × Emission_Factor_{i, p} (g/km) × Speed_i (km/h) × Activity_Factor ]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Vehicle Pollution Contribution Index (0–100 Scale) = min( 100,  ( Total Mass Rate (g/hr) / Baseline Max Rate ) × 100 )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3949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🧪 Modeled Pollutant Species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Fine Particulate Matter (PM2.5): Primary tire wear &amp; diesel soot.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Coarse Particulate Matter (PM10): Brake dust &amp; road abrasion.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Nitrogen Dioxide (NO2): High-temperature diesel combustion byproduct.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Carbon Monoxide (CO): Incomplete gasoline/petrol combustion.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Sulfur Dioxide (SO2): Trace fuel sulfur oxidation.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Carbon Dioxide (CO2): Primary greenhouse gas mass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2926080"/>
            <a:ext cx="53949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301752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🇪🇺 EEA COPERT V Standard Factors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Tiered Factor Tables: Differentiates emissions based on vehicle class, Euro fuel category, and speed curve.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Diesel Weighting: Heavy diesel trucks assigned ~8.5x higher NO2/PM factor than petrol cars.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Zero Tailpipe EV Policy: EVs set to 0 g/hr for CO2/NO2/CO, with non-exhaust PM retained for brake/tire wear.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Aggregated Telemetry: Aggregates real-time g/hr totals per frame and per 1-minute temporal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Traffic Noise Estimation: CoRTN Acoustic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10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🔊 Acoustic Noise Proxy Model (CoRTN)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Calculation of Road Traffic Noise (CoRTN):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Formulates acoustic sound pressure level proxies (Leq) based on traffic flow rate, vehicle composition, and distance.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Mathematical Proxy Equation: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Leq,proxy = 10 · log10( ∑ N_i · 10^(0.1 · L_ref,i) ) - 20 · log10( d / d_ref )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Normalized 0–100 Index: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Maps acoustic proxy values into a standardized 0–100 Relative Noise Pollution Index for intuitive city monitoring.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Non-Intrusive Sensing: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Provides acoustic impact telemetry without deploying physical microphone arrays at every street corner.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📊 Relative Vehicle Acoustic Weights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0975" y="2011680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84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Motorcycle (High RPM / Exhaust Noise): </a:t>
            </a:r>
            <a:r>
              <a:rPr b="1">
                <a:solidFill>
                  <a:srgbClr val="D97706"/>
                </a:solidFill>
              </a:rPr>
              <a:t>10.0 Weight Factor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0975" y="2670048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Heavy Diesel Truck (Engine / Powertrain): </a:t>
            </a:r>
            <a:r>
              <a:rPr b="1">
                <a:solidFill>
                  <a:srgbClr val="D97706"/>
                </a:solidFill>
              </a:rPr>
              <a:t>8.0 Weight Factor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0975" y="3328416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4015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Transit Bus (Heavy Engine / Air Brakes): </a:t>
            </a:r>
            <a:r>
              <a:rPr b="1">
                <a:solidFill>
                  <a:srgbClr val="D97706"/>
                </a:solidFill>
              </a:rPr>
              <a:t>6.0 Weight Factor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0975" y="3986784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05993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Light Commercial Van: </a:t>
            </a:r>
            <a:r>
              <a:rPr b="1">
                <a:solidFill>
                  <a:srgbClr val="2563EB"/>
                </a:solidFill>
              </a:rPr>
              <a:t>1.8 Weight Factor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0975" y="4645152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7183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Standard Petrol/Diesel Passenger Car: </a:t>
            </a:r>
            <a:r>
              <a:rPr b="1">
                <a:solidFill>
                  <a:srgbClr val="2563EB"/>
                </a:solidFill>
              </a:rPr>
              <a:t>1.0 Weight Factor (Baseline)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0975" y="5303520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3766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Electric Vehicle (Tire/Road Noise Only): </a:t>
            </a:r>
            <a:r>
              <a:rPr b="1">
                <a:solidFill>
                  <a:srgbClr val="059669"/>
                </a:solidFill>
              </a:rPr>
              <a:t>0.2 Weight Factor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Environmental Station APIs &amp; Statistical Correlation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11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🌐 Live Air Station API Adapter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OpenAQ Global REST API: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Queries live ambient air quality stations globally for real-time PM2.5, PM10, and NO2 concentration feeds.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CPCB India Station API: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Integrates Central Pollution Control Board monitoring network telemetry for Indian urban centers.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Offline Station Fallback: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Maintains cached historical baseline datasets to ensure continuous dashboard availability during network timeouts.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Spatial Radius Matching: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Matches camera GPS coordinates against nearest physical monitoring station radius.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📈 Statistical Correlation Engine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Pearson Linear Correlation (r):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Measures linear relationship strength between traffic count volume and measured station PM2.5/NO2 levels.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Spearman Rank Correlation (ρ):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Evaluates non-linear monotonic trends between traffic density spikes and ambient air concentrations.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Diurnal Lag Analysis: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Computes time-shifted cross-correlation to capture atmospheric dispersion delay between road emissions and station sensors.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Analytical Outputs: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R-squared metrics and p-values displayed in interactive scatter plots within the Streamlit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Streamlit Web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12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📽️ Real-Time Media Player &amp; HUD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Renders video streams with bounding box overlays, persistent Track IDs, and virtual counting lines.</a:t>
            </a:r>
            <a:br/>
            <a:r>
              <a:t>• Interactive playback controls with side-by-side original/annotated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28016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39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📊 Plotly Express Analytics Suite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Diurnal vehicle flow &amp; powertrain breakdown charts.</a:t>
            </a:r>
            <a:br/>
            <a:r>
              <a:t>• Real-time PM2.5/NO2/CO2 emission rates &amp; 0-100 Pollution Index gauge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8619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🔬 Grad-CAM &amp; Model Explainability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Visual activation heatmaps explaining classifier decisions.</a:t>
            </a:r>
            <a:br/>
            <a:r>
              <a:t>• Interactive image crop inspector with Top-5 confidence score breakdown.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749039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9" y="388619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📥 Automated One-Click Export Engine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One-click download of per-vehicle telemetry (vehicles.csv).</a:t>
            </a:r>
            <a:br/>
            <a:r>
              <a:t>• Export aggregate fleet metrics (summary.json) &amp; annotated video output (tracked_video.mp4).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Verification &amp; Measured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13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9633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413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44 / 44 PASSED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PyTest Test Suite (100% Pass)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280160"/>
            <a:ext cx="359633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371600"/>
            <a:ext cx="3413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22.4 FPS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CPU Pipeline Speed (N=2 Skip)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280160"/>
            <a:ext cx="359633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371600"/>
            <a:ext cx="3413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97706"/>
                </a:solidFill>
              </a:defRPr>
            </a:pPr>
            <a:r>
              <a:t>420.5 MB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Peak Process Memory Footprint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834640"/>
          <a:ext cx="1109441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3047695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Subsystem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Measured Repository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Automated Software Test Suite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PyTest Unit &amp; Integration Pass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44 / 44 PASSED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Verified PyTest Suite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YOLOv8n Vehicle Detector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COCO Benchmark mAP@0.5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52.8% mAP@0.5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Verified Pretrained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ResNet50 Make/Model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Top-1 / Top-5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Pending Large-Scale Dataset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⚠️ Requires Custom Fine-Tuning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Pipeline Real-Time Speed (CPU)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Inference Throughput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22.4 FPS (N=2 frame skip)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Verified Real-Time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System Memory Footprint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Process RAM Consumption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420.5 MB RAM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Verified Low Memory Overhead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Scientific Disclaimers, Limitations &amp; Ethics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14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⚠️ 1. Model Estimates vs Direct Sensing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Calculates estimated vehicular emission mass rates (g/hr) using COPERT V standards. Does NOT directly measure ambient atmospheric gas concentrations (µg/m³) or AQI from camera images, which depend on wind/weather dispersion.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280160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39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⚠️ 2. Relative Noise Index Disclaimer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Sound proxies (0–100 scale) are calculated using CoRTN acoustic traffic weighting models. They do NOT represent physical decibel meter (dB SPL) readings from calibrated microphones.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8619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⚠️ 3. Visual Powertrain Ambiguity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Visually identical vehicle body styles (e.g. Ford Focus petrol vs diesel) cannot be visually distinguished with 100% certainty from RGB images alone; assigned UNKNOWN or AMBIGUOUS when visual cues are insufficient.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749039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9" y="388619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🛡️ 4. Privacy &amp; Ethical Standards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Vehicle license plate strings and facial features are NOT stored or tracked in persistent databases. Fully compliant with municipal data privacy regulations.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Research Horizons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15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🎯 Summary of Achievements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End-to-End System Integration: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Successfully developed and verified a modular Computer Vision and Machine Learning pipeline for urban traffic monitoring.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Source-Level Attribution: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Bridged the gap between traffic surveillance and environmental impact by inferring powertrain fuel types and computing COPERT V / CoRTN indices.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Production Readiness: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Achieved 100% pass rate across 44 PyTest cases and delivered an intuitive Streamlit dashboard for real-time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🚀 Future Enhancement Roadmap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1. ALPR &amp; Vehicle Registry Fusion: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Pair object detection with Automatic License Plate Recognition to query official vehicle databases for exact engine displacement and fuel specs.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2. Atmospheric Dispersion Integration: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Pipe estimated g/hr mass rates directly into Gaussian dispersion models (AERMOD / CALPUFF) with real-time weather inputs (wind vector, humidity).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3. IoT Physical Sensor Calibration: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Deploy low-cost IoT microphone sensors and gas nodes to dynamically calibrate CoRTN acoustic weights and emission factors.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